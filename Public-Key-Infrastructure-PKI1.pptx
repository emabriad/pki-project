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1.svg" ContentType="image/svg+xml"/>
  <Override PartName="/ppt/media/image12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31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Sora Medium" pitchFamily="34" charset="0"/>
      <p:regular r:id="rId17"/>
    </p:embeddedFont>
    <p:embeddedFont>
      <p:font typeface="Sora Medium" pitchFamily="34" charset="-122"/>
      <p:regular r:id="rId18"/>
    </p:embeddedFont>
    <p:embeddedFont>
      <p:font typeface="Sora Medium" pitchFamily="34" charset="-120"/>
      <p:regular r:id="rId19"/>
    </p:embeddedFont>
    <p:embeddedFont>
      <p:font typeface="Noto Sans TC" panose="020B0200000000000000" pitchFamily="34" charset="-120"/>
      <p:bold r:id="rId20"/>
    </p:embeddedFont>
    <p:embeddedFont>
      <p:font typeface="Noto Sans TC" panose="020B0200000000000000" pitchFamily="34" charset="-122"/>
      <p:bold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5.xml"/><Relationship Id="rId7" Type="http://schemas.openxmlformats.org/officeDocument/2006/relationships/image" Target="../media/image12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Relationship Id="rId3" Type="http://schemas.openxmlformats.org/officeDocument/2006/relationships/image" Target="../media/image14.svg"/><Relationship Id="rId2" Type="http://schemas.openxmlformats.org/officeDocument/2006/relationships/image" Target="../media/image7.pn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png"/><Relationship Id="rId7" Type="http://schemas.openxmlformats.org/officeDocument/2006/relationships/image" Target="../media/image27.svg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3" Type="http://schemas.openxmlformats.org/officeDocument/2006/relationships/image" Target="../media/image23.svg"/><Relationship Id="rId2" Type="http://schemas.openxmlformats.org/officeDocument/2006/relationships/image" Target="../media/image7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8.xml"/><Relationship Id="rId1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31.svg"/><Relationship Id="rId2" Type="http://schemas.openxmlformats.org/officeDocument/2006/relationships/image" Target="../media/image7.png"/><Relationship Id="rId1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27409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Public Key Infrastructure (PKI)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885128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Course: Cryptography and Computer Security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503182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Prepared by: Layal Zioud &amp; Eman Bani Odeh  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121235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Submitted to: Dr. Jihad Hammamra  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739289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15/04/2026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3856" y="554950"/>
            <a:ext cx="4341614" cy="5426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What is PKI?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6184" y="1446609"/>
            <a:ext cx="7640479" cy="43295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6184" y="5925741"/>
            <a:ext cx="7640479" cy="2452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316355" y="3243501"/>
            <a:ext cx="3918585" cy="4905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A </a:t>
            </a:r>
            <a:r>
              <a:rPr lang="en-US" sz="1350" b="1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cryptographic framework</a:t>
            </a:r>
            <a:r>
              <a:rPr lang="en-US" sz="13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 enabling secure communication over untrusted networks.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316355" y="3853696"/>
            <a:ext cx="3918585" cy="4905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Foundation of HTTPS, S/MIME, VPNs, and digital signatures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1323856" y="6440210"/>
            <a:ext cx="3905607" cy="1234440"/>
          </a:xfrm>
          <a:prstGeom prst="roundRect">
            <a:avLst>
              <a:gd name="adj" fmla="val 2110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023" y="6440210"/>
            <a:ext cx="91440" cy="1234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88889" y="6636663"/>
            <a:ext cx="2939891" cy="271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Asymmetric Cryptography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588889" y="6987659"/>
            <a:ext cx="3444121" cy="4905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Public key shared openly; private key kept secret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362337" y="6440210"/>
            <a:ext cx="3905726" cy="1234440"/>
          </a:xfrm>
          <a:prstGeom prst="roundRect">
            <a:avLst>
              <a:gd name="adj" fmla="val 2110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623" y="6440210"/>
            <a:ext cx="91440" cy="12344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27370" y="6636663"/>
            <a:ext cx="2170748" cy="271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Trusted Authorities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5627370" y="6987659"/>
            <a:ext cx="3444240" cy="4905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Certificate Authorities (CAs) manage digital identities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9400937" y="6440210"/>
            <a:ext cx="3905726" cy="1234440"/>
          </a:xfrm>
          <a:prstGeom prst="roundRect">
            <a:avLst>
              <a:gd name="adj" fmla="val 2110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5223" y="6440210"/>
            <a:ext cx="91440" cy="12344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65970" y="6636663"/>
            <a:ext cx="2170748" cy="271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Core Services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9665970" y="6987659"/>
            <a:ext cx="3444240" cy="4905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Confidentiality · Authentication · Integrity · Non-repudiation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9914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PKI Architecture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18855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26262B"/>
          </a:solidFill>
        </p:spPr>
      </p:sp>
      <p:sp>
        <p:nvSpPr>
          <p:cNvPr id="4" name="Text 2"/>
          <p:cNvSpPr/>
          <p:nvPr/>
        </p:nvSpPr>
        <p:spPr>
          <a:xfrm>
            <a:off x="1020604" y="3445669"/>
            <a:ext cx="3711654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Certificate Authority (CA)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936087"/>
            <a:ext cx="59543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Issues &amp; signs certificates · Root and Intermediate CAs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3218855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26262B"/>
          </a:solidFill>
        </p:spPr>
      </p:sp>
      <p:sp>
        <p:nvSpPr>
          <p:cNvPr id="7" name="Text 5"/>
          <p:cNvSpPr/>
          <p:nvPr/>
        </p:nvSpPr>
        <p:spPr>
          <a:xfrm>
            <a:off x="7655362" y="3445669"/>
            <a:ext cx="3932634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Registration Authority (RA)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5362" y="3936087"/>
            <a:ext cx="595443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Verifies identity before forwarding to CA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752618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26262B"/>
          </a:solidFill>
        </p:spPr>
      </p:sp>
      <p:sp>
        <p:nvSpPr>
          <p:cNvPr id="10" name="Text 8"/>
          <p:cNvSpPr/>
          <p:nvPr/>
        </p:nvSpPr>
        <p:spPr>
          <a:xfrm>
            <a:off x="1020604" y="497943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Digital Certificates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0604" y="5469850"/>
            <a:ext cx="59543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X.509 standard · Binds identity to public key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752618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26262B"/>
          </a:solidFill>
        </p:spPr>
      </p:sp>
      <p:sp>
        <p:nvSpPr>
          <p:cNvPr id="13" name="Text 11"/>
          <p:cNvSpPr/>
          <p:nvPr/>
        </p:nvSpPr>
        <p:spPr>
          <a:xfrm>
            <a:off x="7655362" y="497943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CRL / OCSP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55362" y="5469850"/>
            <a:ext cx="595443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Certificate revocation &amp; validation mechanisms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500664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How PKI Works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49604"/>
            <a:ext cx="7556421" cy="2835473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7016" y="3271850"/>
            <a:ext cx="390314" cy="39031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899271" y="4586965"/>
            <a:ext cx="1139717" cy="4391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Secure Comm</a:t>
            </a:r>
            <a:endParaRPr lang="en-US" sz="135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8101" y="3272582"/>
            <a:ext cx="390314" cy="390314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462915" y="4696740"/>
            <a:ext cx="1139717" cy="219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Issue Cert</a:t>
            </a:r>
            <a:endParaRPr lang="en-US" sz="135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9552" y="3272582"/>
            <a:ext cx="390314" cy="390314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4034366" y="4696740"/>
            <a:ext cx="1139717" cy="219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Verify</a:t>
            </a:r>
            <a:endParaRPr lang="en-US" sz="135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61002" y="3272582"/>
            <a:ext cx="390314" cy="390314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2605817" y="4696740"/>
            <a:ext cx="1139717" cy="219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CSR</a:t>
            </a:r>
            <a:endParaRPr lang="en-US" sz="135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24647" y="3272582"/>
            <a:ext cx="390314" cy="390314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1146042" y="4696740"/>
            <a:ext cx="1139717" cy="219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Key Pair</a:t>
            </a:r>
            <a:endParaRPr lang="en-US" sz="1350" dirty="0"/>
          </a:p>
        </p:txBody>
      </p:sp>
      <p:sp>
        <p:nvSpPr>
          <p:cNvPr id="15" name="Text 6"/>
          <p:cNvSpPr/>
          <p:nvPr/>
        </p:nvSpPr>
        <p:spPr>
          <a:xfrm>
            <a:off x="793790" y="5640229"/>
            <a:ext cx="755642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Each step integrates cryptographic techniques and trusted authorities to establish secure, authenticated communication over untrusted networks.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197" y="585668"/>
            <a:ext cx="7903607" cy="11075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PKI's Role in Secure Communication</a:t>
            </a:r>
            <a:endParaRPr lang="en-US" sz="3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0197" y="1900833"/>
            <a:ext cx="442913" cy="4429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0197" y="2516743"/>
            <a:ext cx="2215039" cy="2768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Confidentiality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620197" y="2876550"/>
            <a:ext cx="7903607" cy="2524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Encrypt with recipient's public key; decrypt with private key only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197" y="3405783"/>
            <a:ext cx="442913" cy="4429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0197" y="4021693"/>
            <a:ext cx="2215039" cy="2768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Authentication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620197" y="4381500"/>
            <a:ext cx="7903607" cy="2524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CA-issued certificates verify communicating parties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197" y="4910733"/>
            <a:ext cx="442913" cy="4429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0197" y="5526643"/>
            <a:ext cx="2215039" cy="2768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Integrity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620197" y="5886450"/>
            <a:ext cx="7903607" cy="2524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Hash functions &amp; digital signatures detect tampering</a:t>
            </a:r>
            <a:endParaRPr lang="en-US" sz="13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197" y="6415683"/>
            <a:ext cx="442913" cy="44291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0197" y="7031593"/>
            <a:ext cx="2215039" cy="2768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Non-Repudiation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620197" y="7391400"/>
            <a:ext cx="7903607" cy="2524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Digital signatures prove origin — essential for legal &amp; financial transactions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92179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Where PKI Is Used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354586"/>
            <a:ext cx="1341120" cy="8287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466868"/>
            <a:ext cx="3048000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HTTPS (Web Security)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311616"/>
            <a:ext cx="304800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SSL/TLS encryption between browser and server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78" y="3354586"/>
            <a:ext cx="1341120" cy="8287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278" y="446686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Secure Email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25278" y="4957286"/>
            <a:ext cx="304811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S/MIME encryption and digital signatures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84" y="3354586"/>
            <a:ext cx="1341120" cy="8287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446686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VPN &amp; Enterprise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6884" y="4957286"/>
            <a:ext cx="304811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Secure remote access and internal network protection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491" y="3354586"/>
            <a:ext cx="1341120" cy="8287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446686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IoT &amp; Mobile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88491" y="4957286"/>
            <a:ext cx="304811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Device authentication and secure app communication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33293"/>
            <a:ext cx="6695837" cy="6977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Strengths &amp; Limitations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7587496" y="1907858"/>
            <a:ext cx="3020854" cy="2962275"/>
          </a:xfrm>
          <a:prstGeom prst="roundRect">
            <a:avLst>
              <a:gd name="adj" fmla="val 1131"/>
            </a:avLst>
          </a:prstGeom>
          <a:solidFill>
            <a:srgbClr val="26262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738" y="2131100"/>
            <a:ext cx="669846" cy="6698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4928" y="2315289"/>
            <a:ext cx="301347" cy="3013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10738" y="3020735"/>
            <a:ext cx="2574369" cy="6977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Strong Confidentiality</a:t>
            </a:r>
            <a:endParaRPr lang="en-US" sz="2150" dirty="0"/>
          </a:p>
        </p:txBody>
      </p:sp>
      <p:sp>
        <p:nvSpPr>
          <p:cNvPr id="7" name="Text 3"/>
          <p:cNvSpPr/>
          <p:nvPr/>
        </p:nvSpPr>
        <p:spPr>
          <a:xfrm>
            <a:off x="7810738" y="3938230"/>
            <a:ext cx="2574369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Asymmetric encryption protects data in transit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10828139" y="1907858"/>
            <a:ext cx="3020854" cy="2962275"/>
          </a:xfrm>
          <a:prstGeom prst="roundRect">
            <a:avLst>
              <a:gd name="adj" fmla="val 1131"/>
            </a:avLst>
          </a:prstGeom>
          <a:solidFill>
            <a:srgbClr val="26262B"/>
          </a:solidFill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1381" y="2131100"/>
            <a:ext cx="669846" cy="669846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35571" y="2315289"/>
            <a:ext cx="301347" cy="30134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051381" y="3020735"/>
            <a:ext cx="2574369" cy="6977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Scalable &amp; Flexible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11051381" y="3938230"/>
            <a:ext cx="2574369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Fits small to enterprise-scale deployments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7587496" y="5089922"/>
            <a:ext cx="6261497" cy="2259092"/>
          </a:xfrm>
          <a:prstGeom prst="roundRect">
            <a:avLst>
              <a:gd name="adj" fmla="val 1483"/>
            </a:avLst>
          </a:prstGeom>
          <a:solidFill>
            <a:srgbClr val="26262B"/>
          </a:solidFill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738" y="5313164"/>
            <a:ext cx="669846" cy="669846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94928" y="5497354"/>
            <a:ext cx="301347" cy="30134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810738" y="6202799"/>
            <a:ext cx="4058722" cy="3488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Structured Key Management</a:t>
            </a:r>
            <a:endParaRPr lang="en-US" sz="2150" dirty="0"/>
          </a:p>
        </p:txBody>
      </p:sp>
      <p:sp>
        <p:nvSpPr>
          <p:cNvPr id="17" name="Text 9"/>
          <p:cNvSpPr/>
          <p:nvPr/>
        </p:nvSpPr>
        <p:spPr>
          <a:xfrm>
            <a:off x="7810738" y="6771442"/>
            <a:ext cx="581501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Full lifecycle: generation, renewal, revocation</a:t>
            </a:r>
            <a:endParaRPr lang="en-US" sz="1750" dirty="0"/>
          </a:p>
        </p:txBody>
      </p:sp>
      <p:sp>
        <p:nvSpPr>
          <p:cNvPr id="18" name="Shape 10"/>
          <p:cNvSpPr/>
          <p:nvPr/>
        </p:nvSpPr>
        <p:spPr>
          <a:xfrm>
            <a:off x="773787" y="1907858"/>
            <a:ext cx="6261497" cy="1784747"/>
          </a:xfrm>
          <a:prstGeom prst="roundRect">
            <a:avLst>
              <a:gd name="adj" fmla="val 1877"/>
            </a:avLst>
          </a:prstGeom>
          <a:solidFill>
            <a:srgbClr val="07070C"/>
          </a:solidFill>
          <a:ln w="30480">
            <a:solidFill>
              <a:srgbClr val="3F3F44"/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3364" y="1907858"/>
            <a:ext cx="121920" cy="1784747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118949" y="2161580"/>
            <a:ext cx="4005143" cy="3488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Implementation Complexity</a:t>
            </a:r>
            <a:endParaRPr lang="en-US" sz="2150" dirty="0"/>
          </a:p>
        </p:txBody>
      </p:sp>
      <p:sp>
        <p:nvSpPr>
          <p:cNvPr id="21" name="Text 12"/>
          <p:cNvSpPr/>
          <p:nvPr/>
        </p:nvSpPr>
        <p:spPr>
          <a:xfrm>
            <a:off x="1118949" y="2730222"/>
            <a:ext cx="5662613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Requires specialized expertise; risk of misconfiguration</a:t>
            </a:r>
            <a:endParaRPr lang="en-US" sz="1750" dirty="0"/>
          </a:p>
        </p:txBody>
      </p:sp>
      <p:sp>
        <p:nvSpPr>
          <p:cNvPr id="22" name="Shape 13"/>
          <p:cNvSpPr/>
          <p:nvPr/>
        </p:nvSpPr>
        <p:spPr>
          <a:xfrm>
            <a:off x="773787" y="3912394"/>
            <a:ext cx="6261497" cy="1430417"/>
          </a:xfrm>
          <a:prstGeom prst="roundRect">
            <a:avLst>
              <a:gd name="adj" fmla="val 2341"/>
            </a:avLst>
          </a:prstGeom>
          <a:solidFill>
            <a:srgbClr val="07070C"/>
          </a:solidFill>
          <a:ln w="30480">
            <a:solidFill>
              <a:srgbClr val="3F3F44"/>
            </a:solidFill>
            <a:prstDash val="solid"/>
          </a:ln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3364" y="3912394"/>
            <a:ext cx="121920" cy="1430417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1118949" y="4166116"/>
            <a:ext cx="3093720" cy="3488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Centralized Trust Risk</a:t>
            </a:r>
            <a:endParaRPr lang="en-US" sz="2150" dirty="0"/>
          </a:p>
        </p:txBody>
      </p:sp>
      <p:sp>
        <p:nvSpPr>
          <p:cNvPr id="25" name="Text 15"/>
          <p:cNvSpPr/>
          <p:nvPr/>
        </p:nvSpPr>
        <p:spPr>
          <a:xfrm>
            <a:off x="1118949" y="4734758"/>
            <a:ext cx="566261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Compromised CA = single point of failure</a:t>
            </a:r>
            <a:endParaRPr lang="en-US" sz="1750" dirty="0"/>
          </a:p>
        </p:txBody>
      </p:sp>
      <p:sp>
        <p:nvSpPr>
          <p:cNvPr id="26" name="Shape 16"/>
          <p:cNvSpPr/>
          <p:nvPr/>
        </p:nvSpPr>
        <p:spPr>
          <a:xfrm>
            <a:off x="773787" y="5562600"/>
            <a:ext cx="6261497" cy="1430417"/>
          </a:xfrm>
          <a:prstGeom prst="roundRect">
            <a:avLst>
              <a:gd name="adj" fmla="val 2341"/>
            </a:avLst>
          </a:prstGeom>
          <a:solidFill>
            <a:srgbClr val="07070C"/>
          </a:solidFill>
          <a:ln w="30480">
            <a:solidFill>
              <a:srgbClr val="3F3F44"/>
            </a:solidFill>
            <a:prstDash val="solid"/>
          </a:ln>
        </p:spPr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3364" y="5562600"/>
            <a:ext cx="121920" cy="1430417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1118949" y="5816322"/>
            <a:ext cx="3468172" cy="3488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Certificate Management</a:t>
            </a:r>
            <a:endParaRPr lang="en-US" sz="2150" dirty="0"/>
          </a:p>
        </p:txBody>
      </p:sp>
      <p:sp>
        <p:nvSpPr>
          <p:cNvPr id="29" name="Text 18"/>
          <p:cNvSpPr/>
          <p:nvPr/>
        </p:nvSpPr>
        <p:spPr>
          <a:xfrm>
            <a:off x="1118949" y="6384965"/>
            <a:ext cx="566261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Expiry, revocation, and lifecycle overhead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03246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Attacks on PKI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00" y="2259211"/>
            <a:ext cx="340162" cy="3401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30906" y="2252186"/>
            <a:ext cx="3872627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Man-in-the-Middle (MITM)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530906" y="2742605"/>
            <a:ext cx="681930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Fake certificates intercept secure channels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00" y="3566160"/>
            <a:ext cx="340162" cy="3401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30906" y="3559135"/>
            <a:ext cx="5455444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Certificate Forgery &amp; CA Compromise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530906" y="4049554"/>
            <a:ext cx="681930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Fraudulent certs issued; entire trust model collapses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00" y="4873109"/>
            <a:ext cx="340162" cy="3401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30906" y="486608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Private Key Theft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530906" y="5356503"/>
            <a:ext cx="681930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Full impersonation — decryption and signature forgery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00" y="6180058"/>
            <a:ext cx="340162" cy="34016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30906" y="6173033"/>
            <a:ext cx="4005739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Replay &amp; Social Engineering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530906" y="6663452"/>
            <a:ext cx="681930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Session hijacking and phishing exploit user trust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302" y="554831"/>
            <a:ext cx="4558665" cy="5647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The Evolution of PKI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5823" y="1497449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823" y="1497449"/>
            <a:ext cx="6015395" cy="601539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567" y="3251121"/>
            <a:ext cx="45720" cy="127408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298258" y="3273981"/>
            <a:ext cx="2691170" cy="5648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Post-Quantum Cryptography</a:t>
            </a:r>
            <a:endParaRPr lang="en-US" sz="1750" dirty="0"/>
          </a:p>
        </p:txBody>
      </p:sp>
      <p:sp>
        <p:nvSpPr>
          <p:cNvPr id="7" name="Text 2"/>
          <p:cNvSpPr/>
          <p:nvPr/>
        </p:nvSpPr>
        <p:spPr>
          <a:xfrm>
            <a:off x="1298258" y="3982760"/>
            <a:ext cx="2691170" cy="5195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Quantum-resistant algorithms to replace RSA/ECC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335" y="3251121"/>
            <a:ext cx="45720" cy="127408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395907" y="3273981"/>
            <a:ext cx="2691289" cy="5648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Decentralized PKI (DPKI)</a:t>
            </a:r>
            <a:endParaRPr lang="en-US" sz="1750" dirty="0"/>
          </a:p>
        </p:txBody>
      </p:sp>
      <p:sp>
        <p:nvSpPr>
          <p:cNvPr id="10" name="Text 4"/>
          <p:cNvSpPr/>
          <p:nvPr/>
        </p:nvSpPr>
        <p:spPr>
          <a:xfrm>
            <a:off x="4395907" y="3982760"/>
            <a:ext cx="2691289" cy="5195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Blockchain eliminates single points of failure</a:t>
            </a:r>
            <a:endParaRPr lang="en-US" sz="1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6567" y="4767501"/>
            <a:ext cx="45720" cy="99167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298258" y="4790361"/>
            <a:ext cx="2679502" cy="2824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Zero Trust Architecture</a:t>
            </a:r>
            <a:endParaRPr lang="en-US" sz="1750" dirty="0"/>
          </a:p>
        </p:txBody>
      </p:sp>
      <p:sp>
        <p:nvSpPr>
          <p:cNvPr id="13" name="Text 6"/>
          <p:cNvSpPr/>
          <p:nvPr/>
        </p:nvSpPr>
        <p:spPr>
          <a:xfrm>
            <a:off x="1298258" y="5216723"/>
            <a:ext cx="2691170" cy="5195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Continuous verification — no entity trusted by default</a:t>
            </a:r>
            <a:endParaRPr lang="en-US" sz="14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4335" y="4767501"/>
            <a:ext cx="45720" cy="99167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395907" y="4790361"/>
            <a:ext cx="2298144" cy="2824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Automation (ACME)</a:t>
            </a:r>
            <a:endParaRPr lang="en-US" sz="1750" dirty="0"/>
          </a:p>
        </p:txBody>
      </p:sp>
      <p:sp>
        <p:nvSpPr>
          <p:cNvPr id="16" name="Text 8"/>
          <p:cNvSpPr/>
          <p:nvPr/>
        </p:nvSpPr>
        <p:spPr>
          <a:xfrm>
            <a:off x="4395907" y="5216723"/>
            <a:ext cx="2691289" cy="5195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Faster issuance, renewal, reduced human error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1362" y="592574"/>
            <a:ext cx="4607362" cy="5759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131362" y="1393031"/>
            <a:ext cx="7854077" cy="1013222"/>
          </a:xfrm>
          <a:prstGeom prst="roundRect">
            <a:avLst>
              <a:gd name="adj" fmla="val 2728"/>
            </a:avLst>
          </a:prstGeom>
          <a:solidFill>
            <a:srgbClr val="26262B"/>
          </a:solidFill>
        </p:spPr>
      </p:sp>
      <p:sp>
        <p:nvSpPr>
          <p:cNvPr id="5" name="Text 2"/>
          <p:cNvSpPr/>
          <p:nvPr/>
        </p:nvSpPr>
        <p:spPr>
          <a:xfrm>
            <a:off x="6315551" y="1577221"/>
            <a:ext cx="2303621" cy="287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Foundation of Trust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315551" y="1954887"/>
            <a:ext cx="7485698" cy="2671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PKI underpins HTTPS, email, VPNs, and enterprise security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131362" y="2555915"/>
            <a:ext cx="7854077" cy="1013222"/>
          </a:xfrm>
          <a:prstGeom prst="roundRect">
            <a:avLst>
              <a:gd name="adj" fmla="val 2728"/>
            </a:avLst>
          </a:prstGeom>
          <a:solidFill>
            <a:srgbClr val="26262B"/>
          </a:solidFill>
        </p:spPr>
      </p:sp>
      <p:sp>
        <p:nvSpPr>
          <p:cNvPr id="8" name="Text 5"/>
          <p:cNvSpPr/>
          <p:nvPr/>
        </p:nvSpPr>
        <p:spPr>
          <a:xfrm>
            <a:off x="6315551" y="2740104"/>
            <a:ext cx="2303621" cy="287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Four Pillars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315551" y="3117771"/>
            <a:ext cx="7485698" cy="2671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Confidentiality · Authentication · Integrity · Non-Repudiation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131362" y="3718798"/>
            <a:ext cx="7854077" cy="1013222"/>
          </a:xfrm>
          <a:prstGeom prst="roundRect">
            <a:avLst>
              <a:gd name="adj" fmla="val 2728"/>
            </a:avLst>
          </a:prstGeom>
          <a:solidFill>
            <a:srgbClr val="26262B"/>
          </a:solidFill>
        </p:spPr>
      </p:sp>
      <p:sp>
        <p:nvSpPr>
          <p:cNvPr id="11" name="Text 8"/>
          <p:cNvSpPr/>
          <p:nvPr/>
        </p:nvSpPr>
        <p:spPr>
          <a:xfrm>
            <a:off x="6315551" y="3902988"/>
            <a:ext cx="2303621" cy="287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Challenges Remain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315551" y="4280654"/>
            <a:ext cx="7485698" cy="2671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Complexity, CA dependency, and certificate lifecycle management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131362" y="4881682"/>
            <a:ext cx="7854077" cy="1013222"/>
          </a:xfrm>
          <a:prstGeom prst="roundRect">
            <a:avLst>
              <a:gd name="adj" fmla="val 2728"/>
            </a:avLst>
          </a:prstGeom>
          <a:solidFill>
            <a:srgbClr val="26262B"/>
          </a:solidFill>
        </p:spPr>
      </p:sp>
      <p:sp>
        <p:nvSpPr>
          <p:cNvPr id="14" name="Text 11"/>
          <p:cNvSpPr/>
          <p:nvPr/>
        </p:nvSpPr>
        <p:spPr>
          <a:xfrm>
            <a:off x="6315551" y="5065871"/>
            <a:ext cx="2303621" cy="2878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Future-Ready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315551" y="5443537"/>
            <a:ext cx="7485698" cy="2671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Post-quantum, DPKI, and Zero Trust will shape PKI's next era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407706" y="6231612"/>
            <a:ext cx="7577733" cy="534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PKI remains a </a:t>
            </a:r>
            <a:r>
              <a:rPr lang="en-US" sz="1450" b="1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critical foundation</a:t>
            </a:r>
            <a:r>
              <a:rPr lang="en-US" sz="14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 for secure, reliable, and scalable communication in today's interconnected digital world.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131362" y="6063258"/>
            <a:ext cx="22860" cy="871061"/>
          </a:xfrm>
          <a:prstGeom prst="rect">
            <a:avLst/>
          </a:prstGeom>
          <a:solidFill>
            <a:srgbClr val="97B8FF"/>
          </a:solidFill>
        </p:spPr>
      </p:sp>
      <p:sp>
        <p:nvSpPr>
          <p:cNvPr id="18" name="Text 15"/>
          <p:cNvSpPr/>
          <p:nvPr/>
        </p:nvSpPr>
        <p:spPr>
          <a:xfrm>
            <a:off x="6131362" y="7102673"/>
            <a:ext cx="7854077" cy="534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 TC" panose="020B0200000000000000" pitchFamily="34" charset="-120"/>
                <a:ea typeface="Noto Sans TC" panose="020B0200000000000000" pitchFamily="34" charset="-122"/>
                <a:cs typeface="Noto Sans TC" panose="020B0200000000000000" pitchFamily="34" charset="-120"/>
              </a:rPr>
              <a:t>Key References: Stallings (2017) · RFC 5280 · DigiCert · Cloudflare · Microsoft Learn · Let's Encrypt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3191</Words>
  <Application>WPS Presentation</Application>
  <PresentationFormat>On-screen Show (16:9)</PresentationFormat>
  <Paragraphs>180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Sora Medium</vt:lpstr>
      <vt:lpstr>Sora Medium</vt:lpstr>
      <vt:lpstr>Sora Medium</vt:lpstr>
      <vt:lpstr>Noto Sans TC</vt:lpstr>
      <vt:lpstr>Noto Sans TC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ايمانبني عوده</cp:lastModifiedBy>
  <cp:revision>3</cp:revision>
  <dcterms:created xsi:type="dcterms:W3CDTF">2026-04-14T18:53:00Z</dcterms:created>
  <dcterms:modified xsi:type="dcterms:W3CDTF">2026-04-14T19:27:37Z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39CC7CA61A504046904CDA38BB45387F_13</vt:lpwstr>
  </property>
  <property fmtid="{D5CDD505-2E9C-101B-9397-08002B2CF9AE}" pid="3" name="KSOProductBuildVer">
    <vt:lpwstr>1033-12.1.0.25830</vt:lpwstr>
  </property>
</Properties>
</file>